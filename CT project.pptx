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5"/>
  </p:notesMasterIdLst>
  <p:handoutMasterIdLst>
    <p:handoutMasterId r:id="rId26"/>
  </p:handoutMasterIdLst>
  <p:sldIdLst>
    <p:sldId id="410" r:id="rId5"/>
    <p:sldId id="383" r:id="rId6"/>
    <p:sldId id="411" r:id="rId7"/>
    <p:sldId id="404" r:id="rId8"/>
    <p:sldId id="412" r:id="rId9"/>
    <p:sldId id="413" r:id="rId10"/>
    <p:sldId id="403" r:id="rId11"/>
    <p:sldId id="414" r:id="rId12"/>
    <p:sldId id="389" r:id="rId13"/>
    <p:sldId id="419" r:id="rId14"/>
    <p:sldId id="421" r:id="rId15"/>
    <p:sldId id="422" r:id="rId16"/>
    <p:sldId id="423" r:id="rId17"/>
    <p:sldId id="424" r:id="rId18"/>
    <p:sldId id="425" r:id="rId19"/>
    <p:sldId id="415" r:id="rId20"/>
    <p:sldId id="416" r:id="rId21"/>
    <p:sldId id="417" r:id="rId22"/>
    <p:sldId id="418" r:id="rId23"/>
    <p:sldId id="42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653EBB-361A-303A-5D86-CE6CBFE25AF4}" v="1053" dt="2025-12-08T18:19:12.504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61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8758-C286-9D24-7149-03625B47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7BBDE-0BF8-39B5-A791-11E9F4DD4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DC18F-9682-78F5-6633-F91E82C60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F912-1DA1-C98E-582B-012137E18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776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4D05-660C-6EDD-AB1A-BC6174FA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4720F-F452-A5C0-25EC-D93BC9873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E50A6-E1BE-AECA-EDA6-605014DFF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2DFBA-1A5D-3641-833F-74070154C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045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540B-E983-A64B-9E4D-7A57FE65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C1CCD-5860-9154-9B7C-437B2FCE0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54372-CC53-414C-9247-FAAC9C0AF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BC7D9-B475-98A0-E55E-8FCCEDA4E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28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F903-4946-8FCB-5672-E1BEE47BE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D7FC8-FD7B-4730-1F6F-05DB9BC8C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C1996-3C0D-4777-5692-8B5F82525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02ED-DE80-F4ED-2950-B44D02EE6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31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A035-98C2-8A99-FD29-8A21E1C3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DE4B3-8483-B3D7-94CD-52DB0644F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A1B28-F50C-B1A8-B2B9-AE2ECD0E5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0EA14-53FC-81D0-85CF-D9F72E0D2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091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BEAAE-3998-B929-4559-39A1A3F2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308A7-2BD9-5872-1596-9F39E5E1C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12CD7-44A8-E8E8-1252-1596FC360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32BFD-E4BF-F226-7869-3A0C7046F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810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B52D-8851-ED1D-7B31-33F66B68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E7CD0-125C-C38E-981A-709B4DF9A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8DECD-347F-9048-C0C2-6E59099C1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3084D-AAFB-7679-A8C3-C81F575E6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76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7DF1-47A8-9BCE-3010-28166EBD8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37CAB-732C-F452-499E-B91EAD6D6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BF917-2AB3-F175-9852-61879D5E4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4C7F-D1E2-4951-3999-AA65CA921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01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2510-C66D-04AB-0ADB-BDD77F45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0070A-0BE7-BDBE-1EEE-F169B1BA0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10DD6-1FC3-5762-E0ED-3B19EF185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84F9-E1F9-497B-4B48-84AB06EDE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725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8E715-7798-846B-EF4D-A7C072B1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B50A4-D0A5-5D17-FBEE-641685948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A2E6E-A683-BBA3-0268-323922CB2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5F515-499D-9784-7F1C-5BA7DA0B8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538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D4E0-062F-EF5D-4E28-B09105D5F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BFDB3-0D72-B371-33C1-398551346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416B1-76A8-1D57-3922-3491FCF02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26AFB-3AD4-A8E2-08E7-D25F2FCF4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4201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0B7C-EAD2-04A5-7E77-5966858C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18A04-DCD1-DA07-7AEB-45E21556A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3EB30-4748-FF89-7569-5F3D268D2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2A5E9-4ADA-8E32-8251-73EBE563B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80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A0A95-29E6-5CA0-0F92-48756DE3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0CAFE-1F12-1FB5-0A28-CD19FFB6E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C298F-F32A-BBE1-83DE-09EB72ADE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DEF0E-FBD3-34AA-3C6E-1C4EA1990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555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0CD9-48A8-0252-F7C3-B897D095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81F55-7680-112D-F392-199E49816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8F78C-A636-BA51-F225-25D2EDE02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43C4C-D0D4-D4DA-477D-70240F2F1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29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4565" y="756535"/>
            <a:ext cx="9418607" cy="1918802"/>
          </a:xfrm>
        </p:spPr>
        <p:txBody>
          <a:bodyPr/>
          <a:lstStyle/>
          <a:p>
            <a:pPr algn="ctr"/>
            <a:r>
              <a:rPr lang="en-US" dirty="0">
                <a:latin typeface="Segoe Script"/>
              </a:rPr>
              <a:t>Handwritten digit recognition using SVD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65D6B-9DA6-225F-FA54-DA89324E4FBE}"/>
              </a:ext>
            </a:extLst>
          </p:cNvPr>
          <p:cNvSpPr txBox="1"/>
          <p:nvPr/>
        </p:nvSpPr>
        <p:spPr>
          <a:xfrm>
            <a:off x="6557616" y="3429228"/>
            <a:ext cx="17505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Script"/>
              </a:rPr>
              <a:t>GROUP 1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4CF9C-0D77-831B-C93B-8C0CC7728A88}"/>
              </a:ext>
            </a:extLst>
          </p:cNvPr>
          <p:cNvSpPr txBox="1"/>
          <p:nvPr/>
        </p:nvSpPr>
        <p:spPr>
          <a:xfrm>
            <a:off x="4190760" y="4182512"/>
            <a:ext cx="648411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Script"/>
              </a:rPr>
              <a:t>REVANTH S – CB.AI.U4AID25043</a:t>
            </a:r>
            <a:endParaRPr lang="en-US"/>
          </a:p>
          <a:p>
            <a:pPr algn="ctr"/>
            <a:r>
              <a:rPr lang="en-US" dirty="0">
                <a:solidFill>
                  <a:schemeClr val="bg1"/>
                </a:solidFill>
                <a:latin typeface="Segoe Script"/>
              </a:rPr>
              <a:t>G KAMALESH  - CB.AI.U4AID25014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Segoe Script"/>
              </a:rPr>
              <a:t>JASWANTH S - CB.AI.U4AID25047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Segoe Script"/>
              </a:rPr>
              <a:t>ELANGO MEGABALA G - CB.AI.U4AID25013</a:t>
            </a:r>
          </a:p>
          <a:p>
            <a:endParaRPr lang="en-US" dirty="0">
              <a:solidFill>
                <a:schemeClr val="bg1"/>
              </a:solidFill>
              <a:latin typeface="Segoe Script"/>
            </a:endParaRPr>
          </a:p>
          <a:p>
            <a:endParaRPr lang="en-US" dirty="0">
              <a:solidFill>
                <a:srgbClr val="000000"/>
              </a:solidFill>
              <a:latin typeface="Segoe Scrip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65" y="1469156"/>
            <a:ext cx="3099955" cy="493640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Introduction: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9631" y="2849144"/>
            <a:ext cx="11582998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>
              <a:lnSpc>
                <a:spcPct val="150000"/>
              </a:lnSpc>
            </a:pPr>
            <a:r>
              <a:rPr lang="en-US" b="0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Handwritten digit recognition using </a:t>
            </a:r>
            <a:r>
              <a:rPr lang="en-US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singular value decomposition (SVD)</a:t>
            </a:r>
            <a:r>
              <a:rPr lang="en-US" b="0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 is a machine learning technique that identifies digits (0–9) from image datasets like </a:t>
            </a:r>
            <a:r>
              <a:rPr lang="en-US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MNIST</a:t>
            </a:r>
            <a:r>
              <a:rPr lang="en-US" b="0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. </a:t>
            </a:r>
            <a:endParaRPr lang="en-US">
              <a:latin typeface="Quire Sans"/>
              <a:ea typeface="Calibri"/>
              <a:cs typeface="Calibri"/>
            </a:endParaRPr>
          </a:p>
          <a:p>
            <a:pPr marL="283210" indent="-283210">
              <a:lnSpc>
                <a:spcPct val="150000"/>
              </a:lnSpc>
            </a:pPr>
            <a:r>
              <a:rPr lang="en-US" b="0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The motivation behind using SVD for handwritten digit recognition is to </a:t>
            </a:r>
            <a:r>
              <a:rPr lang="en-US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reduce data complexity</a:t>
            </a:r>
            <a:r>
              <a:rPr lang="en-US" b="0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 while keeping important features, making the recognition process </a:t>
            </a:r>
            <a:r>
              <a:rPr lang="en-US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faster, efficient, and accurate</a:t>
            </a:r>
            <a:r>
              <a:rPr lang="en-US" b="0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.</a:t>
            </a:r>
            <a:endParaRPr lang="en-US" b="0" dirty="0">
              <a:solidFill>
                <a:srgbClr val="000000"/>
              </a:solidFill>
              <a:latin typeface="Quire Sans"/>
              <a:ea typeface="Calibri"/>
              <a:cs typeface="Calibri"/>
            </a:endParaRPr>
          </a:p>
          <a:p>
            <a:pPr marL="283210" indent="-283210"/>
            <a:endParaRPr lang="en-US" sz="22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3210" indent="-28321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5821E-61B2-13F8-C682-4BB42204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F3AA-5E52-1BB4-D53E-09ABAF65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432" y="1469156"/>
            <a:ext cx="4602788" cy="493640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Problem statement: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20C60-829E-F743-59FC-5638026B3A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9631" y="2919700"/>
            <a:ext cx="11582998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>
              <a:lnSpc>
                <a:spcPct val="150000"/>
              </a:lnSpc>
            </a:pPr>
            <a:r>
              <a:rPr lang="en-US" b="0">
                <a:solidFill>
                  <a:srgbClr val="000000"/>
                </a:solidFill>
                <a:latin typeface="Quire Sans"/>
                <a:ea typeface="Calibri"/>
                <a:cs typeface="Calibri"/>
              </a:rPr>
              <a:t>The problem is to develop a system that can accurately recognize handwritten digits from image data using singular value decomposition (SVD) for feature extraction and dimensionality reduction, ensuring fast and reliable classification of digits (0–9).</a:t>
            </a:r>
          </a:p>
          <a:p>
            <a:pPr marL="283210" indent="-283210"/>
            <a:endParaRPr lang="en-US" sz="22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3210" indent="-28321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3451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161691"/>
            <a:ext cx="3971027" cy="1099865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objective:</a:t>
            </a:r>
            <a:br>
              <a:rPr lang="en-US" sz="3200" cap="all" dirty="0">
                <a:latin typeface="Tw Cen MT"/>
              </a:rPr>
            </a:br>
            <a:r>
              <a:rPr lang="en-US" sz="3200" cap="all" dirty="0">
                <a:latin typeface="Tw Cen MT"/>
              </a:rPr>
              <a:t>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ACE2A2A-FA7D-7357-D1BF-199B908E8B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660" y="2360223"/>
            <a:ext cx="11114273" cy="4323526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283210" indent="-283210">
              <a:lnSpc>
                <a:spcPct val="100000"/>
              </a:lnSpc>
              <a:buFont typeface="Wingdings,Sans-Serif" panose="020B0604020202020204" pitchFamily="34" charset="0"/>
              <a:buChar char="ü"/>
            </a:pPr>
            <a:r>
              <a:rPr lang="en-US" sz="2200" b="1" dirty="0">
                <a:latin typeface="Tw Cen MT"/>
              </a:rPr>
              <a:t>Primary objective:</a:t>
            </a:r>
            <a:br>
              <a:rPr lang="en-US" sz="2200" b="1" dirty="0">
                <a:latin typeface="Tw Cen MT"/>
              </a:rPr>
            </a:br>
            <a:r>
              <a:rPr lang="en-US" sz="2200" dirty="0">
                <a:latin typeface="Quire Sans"/>
                <a:cs typeface="Quire Sans"/>
              </a:rPr>
              <a:t>To design an efficient, interpretable, and computationally simple model for recognizing</a:t>
            </a:r>
            <a:r>
              <a:rPr lang="en-US" sz="2200" b="1" dirty="0">
                <a:latin typeface="Tw Cen MT"/>
              </a:rPr>
              <a:t> </a:t>
            </a:r>
            <a:r>
              <a:rPr lang="en-US" sz="2200" dirty="0">
                <a:latin typeface="Quire Sans"/>
                <a:cs typeface="Quire Sans"/>
              </a:rPr>
              <a:t>handwritten digits using SVD.</a:t>
            </a:r>
            <a:endParaRPr lang="en-US" sz="2200" dirty="0">
              <a:solidFill>
                <a:srgbClr val="FFFFFF"/>
              </a:solidFill>
              <a:latin typeface="Quire Sans"/>
              <a:cs typeface="Quire Sans"/>
            </a:endParaRPr>
          </a:p>
          <a:p>
            <a:pPr marL="283210" indent="-283210">
              <a:lnSpc>
                <a:spcPct val="100000"/>
              </a:lnSpc>
              <a:buFont typeface="Wingdings,Sans-Serif" panose="020B0604020202020204" pitchFamily="34" charset="0"/>
              <a:buChar char="ü"/>
            </a:pPr>
            <a:r>
              <a:rPr lang="en-US" sz="2200" b="1" dirty="0">
                <a:latin typeface="Tw Cen MT"/>
              </a:rPr>
              <a:t>Specific goals:</a:t>
            </a:r>
            <a:endParaRPr lang="en-US" sz="2200" dirty="0">
              <a:solidFill>
                <a:srgbClr val="FFFFFF"/>
              </a:solidFill>
              <a:latin typeface="Tw Cen MT"/>
            </a:endParaRPr>
          </a:p>
          <a:p>
            <a:pPr marL="283210" indent="-283210">
              <a:lnSpc>
                <a:spcPct val="100000"/>
              </a:lnSpc>
              <a:buFont typeface="Wingdings,Sans-Serif" panose="020B0604020202020204" pitchFamily="34" charset="0"/>
              <a:buChar char="ü"/>
            </a:pPr>
            <a:r>
              <a:rPr lang="en-US" sz="2200" dirty="0">
                <a:latin typeface="Quire Sans"/>
                <a:cs typeface="Quire Sans"/>
              </a:rPr>
              <a:t>Extract key features from digit images using SVD.</a:t>
            </a:r>
            <a:endParaRPr lang="en-US" sz="2200" dirty="0">
              <a:solidFill>
                <a:srgbClr val="FFFFFF"/>
              </a:solidFill>
              <a:latin typeface="Quire Sans"/>
              <a:cs typeface="Quire Sans"/>
            </a:endParaRPr>
          </a:p>
          <a:p>
            <a:pPr marL="283210" indent="-283210">
              <a:lnSpc>
                <a:spcPct val="100000"/>
              </a:lnSpc>
              <a:buFont typeface="Wingdings,Sans-Serif" panose="020B0604020202020204" pitchFamily="34" charset="0"/>
              <a:buChar char="ü"/>
            </a:pPr>
            <a:r>
              <a:rPr lang="en-US" sz="2200" dirty="0">
                <a:latin typeface="Quire Sans"/>
                <a:cs typeface="Quire Sans"/>
              </a:rPr>
              <a:t>Reduce dimensionality without losing critical visual information.</a:t>
            </a:r>
            <a:endParaRPr lang="en-US" sz="2200" dirty="0">
              <a:solidFill>
                <a:srgbClr val="FFFFFF"/>
              </a:solidFill>
              <a:latin typeface="Quire Sans"/>
              <a:cs typeface="Quire Sans"/>
            </a:endParaRPr>
          </a:p>
          <a:p>
            <a:pPr marL="283210" indent="-283210">
              <a:lnSpc>
                <a:spcPct val="100000"/>
              </a:lnSpc>
              <a:buFont typeface="Wingdings,Sans-Serif" panose="020B0604020202020204" pitchFamily="34" charset="0"/>
              <a:buChar char="ü"/>
            </a:pPr>
            <a:r>
              <a:rPr lang="en-US" sz="2200" dirty="0">
                <a:latin typeface="Quire Sans"/>
                <a:cs typeface="Quire Sans"/>
              </a:rPr>
              <a:t>Use singular value vectors as input to a simple classifier (Eg: Nearest </a:t>
            </a:r>
            <a:r>
              <a:rPr lang="en-US" sz="2200" dirty="0" err="1">
                <a:latin typeface="Quire Sans"/>
                <a:cs typeface="Quire Sans"/>
              </a:rPr>
              <a:t>neighbour</a:t>
            </a:r>
            <a:r>
              <a:rPr lang="en-US" sz="2200" dirty="0">
                <a:latin typeface="Quire Sans"/>
                <a:cs typeface="Quire Sans"/>
              </a:rPr>
              <a:t>).</a:t>
            </a:r>
            <a:endParaRPr lang="en-US" sz="2200" dirty="0">
              <a:solidFill>
                <a:srgbClr val="FFFFFF"/>
              </a:solidFill>
              <a:latin typeface="Quire Sans"/>
              <a:cs typeface="Quire Sans"/>
            </a:endParaRPr>
          </a:p>
          <a:p>
            <a:pPr marL="283210" indent="-283210">
              <a:lnSpc>
                <a:spcPct val="100000"/>
              </a:lnSpc>
              <a:buFont typeface="Wingdings,Sans-Serif" panose="020B0604020202020204" pitchFamily="34" charset="0"/>
              <a:buChar char="ü"/>
            </a:pPr>
            <a:r>
              <a:rPr lang="en-US" sz="2200" dirty="0">
                <a:latin typeface="Quire Sans"/>
                <a:cs typeface="Quire Sans"/>
              </a:rPr>
              <a:t>Evaluate recognition accuracy.</a:t>
            </a:r>
            <a:endParaRPr lang="en-US" sz="2200" dirty="0">
              <a:solidFill>
                <a:srgbClr val="000000"/>
              </a:solidFill>
              <a:latin typeface="Quire Sans"/>
              <a:cs typeface="Quir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0B0E-3045-1915-3351-C47F137E6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093A-0B75-F812-F3AA-1A319C737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161691"/>
            <a:ext cx="3971027" cy="1099865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LITERATURE REVIEW:</a:t>
            </a:r>
            <a:br>
              <a:rPr lang="en-US" sz="3200" cap="all" dirty="0">
                <a:latin typeface="Tw Cen MT"/>
              </a:rPr>
            </a:br>
            <a:r>
              <a:rPr lang="en-US" sz="3200" cap="all" dirty="0">
                <a:latin typeface="Tw Cen MT"/>
              </a:rPr>
              <a:t>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A765DA-8BFC-9E98-EEEA-F7B470D85B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0358" y="2259581"/>
            <a:ext cx="11782820" cy="4567941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Quire Sans"/>
                <a:cs typeface="Quire Sans"/>
              </a:rPr>
              <a:t>Previous work:</a:t>
            </a:r>
            <a:endParaRPr lang="en-US" b="1" dirty="0"/>
          </a:p>
          <a:p>
            <a:pPr marL="283210" indent="-283210"/>
            <a:r>
              <a:rPr lang="en-US" sz="2200" dirty="0">
                <a:latin typeface="Quire Sans"/>
                <a:cs typeface="Quire Sans"/>
              </a:rPr>
              <a:t>Neural network and CNN-based models (Eg: Lenet, </a:t>
            </a:r>
            <a:r>
              <a:rPr lang="en-US" sz="2200" dirty="0" err="1">
                <a:latin typeface="Quire Sans"/>
                <a:cs typeface="Quire Sans"/>
              </a:rPr>
              <a:t>alexnet</a:t>
            </a:r>
            <a:r>
              <a:rPr lang="en-US" sz="2200" dirty="0">
                <a:latin typeface="Quire Sans"/>
                <a:cs typeface="Quire Sans"/>
              </a:rPr>
              <a:t>) dominate current state-of-the-art but require large training datasets.</a:t>
            </a:r>
            <a:endParaRPr lang="en-US" dirty="0"/>
          </a:p>
          <a:p>
            <a:pPr marL="283210" indent="-283210"/>
            <a:r>
              <a:rPr lang="en-US" sz="2200" dirty="0">
                <a:latin typeface="Quire Sans"/>
                <a:cs typeface="Quire Sans"/>
              </a:rPr>
              <a:t>SVD, as discussed in works by </a:t>
            </a:r>
            <a:r>
              <a:rPr lang="en-US" sz="2200" dirty="0" err="1">
                <a:latin typeface="Quire Sans"/>
                <a:cs typeface="Quire Sans"/>
              </a:rPr>
              <a:t>eldén</a:t>
            </a:r>
            <a:r>
              <a:rPr lang="en-US" sz="2200" dirty="0">
                <a:latin typeface="Quire Sans"/>
                <a:cs typeface="Quire Sans"/>
              </a:rPr>
              <a:t> and </a:t>
            </a:r>
            <a:r>
              <a:rPr lang="en-US" sz="2200" dirty="0" err="1">
                <a:latin typeface="Quire Sans"/>
                <a:cs typeface="Quire Sans"/>
              </a:rPr>
              <a:t>savas</a:t>
            </a:r>
            <a:r>
              <a:rPr lang="en-US" sz="2200" dirty="0">
                <a:latin typeface="Quire Sans"/>
                <a:cs typeface="Quire Sans"/>
              </a:rPr>
              <a:t> (2003), decomposes image matrices into orthogonal bases, capturing the most essential structure of handwritten digits. </a:t>
            </a:r>
            <a:endParaRPr lang="en-US" dirty="0">
              <a:latin typeface="Franklin Gothic Book"/>
              <a:cs typeface="Quire Sans"/>
            </a:endParaRPr>
          </a:p>
          <a:p>
            <a:pPr marL="0" indent="0">
              <a:buNone/>
            </a:pPr>
            <a:r>
              <a:rPr lang="en-US" sz="2200" dirty="0">
                <a:latin typeface="Quire Sans"/>
                <a:cs typeface="Quire Sans"/>
              </a:rPr>
              <a:t> </a:t>
            </a:r>
            <a:r>
              <a:rPr lang="en-US" sz="2200" b="1" dirty="0">
                <a:latin typeface="Quire Sans"/>
                <a:cs typeface="Quire Sans"/>
              </a:rPr>
              <a:t>Limitations:</a:t>
            </a:r>
            <a:endParaRPr lang="en-US" b="1" dirty="0"/>
          </a:p>
          <a:p>
            <a:pPr marL="283210" indent="-283210"/>
            <a:r>
              <a:rPr lang="en-US" sz="2200" dirty="0">
                <a:latin typeface="Quire Sans"/>
                <a:cs typeface="Quire Sans"/>
              </a:rPr>
              <a:t>There is limited use of classical matrix decomposition approaches in low-resource handwriting recognition.</a:t>
            </a:r>
            <a:endParaRPr lang="en-US" dirty="0"/>
          </a:p>
          <a:p>
            <a:pPr marL="283210" indent="-283210"/>
            <a:r>
              <a:rPr lang="en-US" sz="2200" dirty="0">
                <a:latin typeface="Quire Sans"/>
                <a:cs typeface="Quire Sans"/>
              </a:rPr>
              <a:t>SVD provides interpretability and mathematical simplicity with resilience against noise and redundancy.</a:t>
            </a:r>
            <a:endParaRPr lang="en-US" dirty="0"/>
          </a:p>
          <a:p>
            <a:pPr marL="283210" indent="-283210">
              <a:lnSpc>
                <a:spcPct val="100000"/>
              </a:lnSpc>
            </a:pPr>
            <a:endParaRPr lang="en-US" sz="2200" dirty="0">
              <a:latin typeface="Quire Sans"/>
              <a:cs typeface="Quire Sans"/>
            </a:endParaRPr>
          </a:p>
        </p:txBody>
      </p:sp>
    </p:spTree>
    <p:extLst>
      <p:ext uri="{BB962C8B-B14F-4D97-AF65-F5344CB8AC3E}">
        <p14:creationId xmlns:p14="http://schemas.microsoft.com/office/powerpoint/2010/main" val="18849686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49E1D-EE35-976F-578F-147A0700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F249-8355-AED9-45B5-EB35279D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255143"/>
            <a:ext cx="3101197" cy="1006413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Methodology:</a:t>
            </a:r>
            <a:br>
              <a:rPr lang="en-US" sz="3200" cap="all" dirty="0">
                <a:latin typeface="Tw Cen MT"/>
              </a:rPr>
            </a:br>
            <a:r>
              <a:rPr lang="en-US" sz="3200" cap="all" dirty="0">
                <a:latin typeface="Tw Cen MT"/>
              </a:rPr>
              <a:t> 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6170F2-6F21-9F37-F2C1-244A0E07E39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9754" y="2460864"/>
            <a:ext cx="11782820" cy="4567941"/>
          </a:xfrm>
        </p:spPr>
        <p:txBody>
          <a:bodyPr vert="horz" lIns="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Quire Sans"/>
                <a:cs typeface="Quire Sans"/>
              </a:rPr>
              <a:t>Workflow overview:</a:t>
            </a:r>
          </a:p>
          <a:p>
            <a:pPr marL="283210" indent="-283210"/>
            <a:r>
              <a:rPr lang="en-US" sz="2400" dirty="0">
                <a:latin typeface="Quire Sans"/>
                <a:cs typeface="Quire Sans"/>
              </a:rPr>
              <a:t>Data collection: use MNIST.</a:t>
            </a:r>
          </a:p>
          <a:p>
            <a:pPr marL="283210" indent="-283210"/>
            <a:r>
              <a:rPr lang="en-US" sz="2400" dirty="0">
                <a:latin typeface="Quire Sans"/>
                <a:cs typeface="Quire Sans"/>
              </a:rPr>
              <a:t>Preprocessing: normalize images, convert grayscale (0–255) to float (0–1).</a:t>
            </a:r>
            <a:endParaRPr lang="en-US"/>
          </a:p>
          <a:p>
            <a:pPr marL="0" indent="0">
              <a:buNone/>
            </a:pPr>
            <a:r>
              <a:rPr lang="en-US" sz="2400" dirty="0">
                <a:latin typeface="Quire Sans"/>
                <a:cs typeface="Quire Sans"/>
              </a:rPr>
              <a:t> </a:t>
            </a:r>
            <a:r>
              <a:rPr lang="en-US" sz="2400" b="1" dirty="0">
                <a:latin typeface="Quire Sans"/>
                <a:cs typeface="Quire Sans"/>
              </a:rPr>
              <a:t>Compute SVD for each image matrix m, perform</a:t>
            </a:r>
            <a:endParaRPr lang="en-US" b="1" dirty="0"/>
          </a:p>
          <a:p>
            <a:pPr marL="283210" indent="-283210"/>
            <a:r>
              <a:rPr lang="en-US" sz="2400" dirty="0">
                <a:latin typeface="Quire Sans"/>
                <a:cs typeface="Quire Sans"/>
              </a:rPr>
              <a:t>M=UΣV</a:t>
            </a:r>
            <a:r>
              <a:rPr lang="en-US" sz="2400" baseline="30000" dirty="0">
                <a:latin typeface="Quire Sans"/>
                <a:cs typeface="Quire Sans"/>
              </a:rPr>
              <a:t>T</a:t>
            </a:r>
          </a:p>
          <a:p>
            <a:pPr marL="283210" indent="-283210"/>
            <a:r>
              <a:rPr lang="en-US" sz="2400" dirty="0">
                <a:latin typeface="Quire Sans"/>
                <a:cs typeface="Quire Sans"/>
              </a:rPr>
              <a:t>Where U and V are orthogonal matrices and Σ is the diagonal matrix of singular values.</a:t>
            </a:r>
          </a:p>
          <a:p>
            <a:pPr marL="283210" indent="-283210"/>
            <a:r>
              <a:rPr lang="en-US" sz="2400" dirty="0">
                <a:latin typeface="Quire Sans"/>
                <a:cs typeface="Quire Sans"/>
              </a:rPr>
              <a:t>Feature selection: retain top-k singular values per image to form a compact representation.</a:t>
            </a:r>
            <a:endParaRPr lang="en-US" sz="2400" dirty="0"/>
          </a:p>
          <a:p>
            <a:pPr marL="0" indent="0">
              <a:buNone/>
            </a:pPr>
            <a:endParaRPr lang="en-US" sz="2200" dirty="0">
              <a:latin typeface="Quire Sans"/>
              <a:cs typeface="Quire Sans"/>
            </a:endParaRPr>
          </a:p>
        </p:txBody>
      </p:sp>
    </p:spTree>
    <p:extLst>
      <p:ext uri="{BB962C8B-B14F-4D97-AF65-F5344CB8AC3E}">
        <p14:creationId xmlns:p14="http://schemas.microsoft.com/office/powerpoint/2010/main" val="368691878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EEB264-4F16-54EB-B0AD-7316E1D7A30C}"/>
              </a:ext>
            </a:extLst>
          </p:cNvPr>
          <p:cNvSpPr txBox="1"/>
          <p:nvPr/>
        </p:nvSpPr>
        <p:spPr>
          <a:xfrm>
            <a:off x="493617" y="2354861"/>
            <a:ext cx="11701827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Classification: compute Euclidean distance between singular vectors to match with closest training digit.</a:t>
            </a:r>
            <a:endParaRPr lang="en-US">
              <a:solidFill>
                <a:schemeClr val="bg1"/>
              </a:solidFill>
              <a:latin typeface="Quire Sans"/>
              <a:cs typeface="Quire Sans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Performance evaluation: measure accuracy, confusion matrix, and visualize reconstructed digits from singular values. 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Flow of process:</a:t>
            </a:r>
            <a:br>
              <a:rPr lang="en-US" sz="2800" dirty="0">
                <a:latin typeface="Quire Sans"/>
              </a:rPr>
            </a:br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 dataset → pre-processing → SVD feature extraction → classification → prediction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Tools used:</a:t>
            </a:r>
          </a:p>
          <a:p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          </a:t>
            </a:r>
            <a:r>
              <a:rPr lang="en-US" sz="2800" dirty="0" err="1">
                <a:solidFill>
                  <a:schemeClr val="bg1"/>
                </a:solidFill>
                <a:latin typeface="Quire Sans"/>
                <a:cs typeface="Quire Sans"/>
              </a:rPr>
              <a:t>i.MATLAB</a:t>
            </a:r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          </a:t>
            </a:r>
            <a:r>
              <a:rPr lang="en-US" sz="2800" err="1">
                <a:solidFill>
                  <a:schemeClr val="bg1"/>
                </a:solidFill>
                <a:latin typeface="Quire Sans"/>
                <a:cs typeface="Quire Sans"/>
              </a:rPr>
              <a:t>ii.Dataset</a:t>
            </a:r>
            <a:r>
              <a:rPr lang="en-US" sz="2800" dirty="0">
                <a:solidFill>
                  <a:schemeClr val="bg1"/>
                </a:solidFill>
                <a:latin typeface="Quire Sans"/>
                <a:cs typeface="Quire Sans"/>
              </a:rPr>
              <a:t> used: MNIST</a:t>
            </a: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bg1"/>
              </a:solidFill>
              <a:latin typeface="Quire Sans"/>
              <a:cs typeface="Quire San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017050-FB53-9EF2-D956-AC75506A7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255143"/>
            <a:ext cx="3101197" cy="1006413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Methodology:</a:t>
            </a:r>
            <a:br>
              <a:rPr lang="en-US" sz="3200" cap="all" dirty="0">
                <a:latin typeface="Tw Cen MT"/>
              </a:rPr>
            </a:br>
            <a:r>
              <a:rPr lang="en-US" sz="3200" cap="all" dirty="0">
                <a:latin typeface="Tw Cen MT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9150-D062-33B5-EE37-CA7CFEF3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79C0-7200-F2B0-25C8-CE867867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417" y="1213628"/>
            <a:ext cx="5365630" cy="1006413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Methodology OVERVIEW:</a:t>
            </a:r>
            <a:br>
              <a:rPr lang="en-US" sz="3200" cap="all" dirty="0">
                <a:latin typeface="Tw Cen MT"/>
              </a:rPr>
            </a:br>
            <a:r>
              <a:rPr lang="en-US" sz="3200" cap="all" dirty="0">
                <a:latin typeface="Tw Cen MT"/>
              </a:rPr>
              <a:t> 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0DEEF9-5C39-8F6C-EC65-D3D9AF384E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6044" y="2511545"/>
            <a:ext cx="10819537" cy="4927374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2800" b="1" dirty="0">
                <a:latin typeface="Calibri"/>
                <a:ea typeface="Calibri"/>
                <a:cs typeface="Quire Sans"/>
              </a:rPr>
              <a:t>Data collection: </a:t>
            </a:r>
            <a:r>
              <a:rPr lang="en-US" sz="2800" dirty="0">
                <a:latin typeface="Calibri"/>
                <a:ea typeface="Calibri"/>
                <a:cs typeface="Quire Sans"/>
              </a:rPr>
              <a:t>utilize the MNIST dataset for model training.</a:t>
            </a:r>
            <a:endParaRPr lang="en-US" sz="2800">
              <a:latin typeface="Calibri"/>
              <a:ea typeface="Calibri"/>
              <a:cs typeface="Calibri"/>
            </a:endParaRPr>
          </a:p>
          <a:p>
            <a:r>
              <a:rPr lang="en-US" sz="2800" b="1" dirty="0">
                <a:latin typeface="Calibri"/>
                <a:ea typeface="Calibri"/>
                <a:cs typeface="Quire Sans"/>
              </a:rPr>
              <a:t>Preprocessing: </a:t>
            </a:r>
            <a:r>
              <a:rPr lang="en-US" sz="2800" dirty="0">
                <a:latin typeface="Calibri"/>
                <a:ea typeface="Calibri"/>
                <a:cs typeface="Quire Sans"/>
              </a:rPr>
              <a:t>normalize images and convert to matrix format.</a:t>
            </a:r>
            <a:endParaRPr lang="en-US" sz="2800" b="1">
              <a:latin typeface="Calibri"/>
              <a:ea typeface="Calibri"/>
              <a:cs typeface="Calibri"/>
            </a:endParaRPr>
          </a:p>
          <a:p>
            <a:r>
              <a:rPr lang="en-US" sz="2800" b="1" dirty="0">
                <a:latin typeface="Calibri"/>
                <a:ea typeface="Calibri"/>
                <a:cs typeface="Quire Sans"/>
              </a:rPr>
              <a:t>SVD implementation: </a:t>
            </a:r>
            <a:r>
              <a:rPr lang="en-US" sz="2800" dirty="0">
                <a:latin typeface="Calibri"/>
                <a:ea typeface="Calibri"/>
                <a:cs typeface="Quire Sans"/>
              </a:rPr>
              <a:t>decompose matrices to identify key features.</a:t>
            </a:r>
            <a:endParaRPr lang="en-US" sz="2800" b="1">
              <a:latin typeface="Calibri"/>
              <a:ea typeface="Calibri"/>
              <a:cs typeface="Calibri"/>
            </a:endParaRPr>
          </a:p>
          <a:p>
            <a:r>
              <a:rPr lang="en-US" sz="2800" b="1" dirty="0">
                <a:latin typeface="Calibri"/>
                <a:ea typeface="Calibri"/>
                <a:cs typeface="Quire Sans"/>
              </a:rPr>
              <a:t>Classifier design: </a:t>
            </a:r>
            <a:r>
              <a:rPr lang="en-US" sz="2800" dirty="0">
                <a:latin typeface="Calibri"/>
                <a:ea typeface="Calibri"/>
                <a:cs typeface="Quire Sans"/>
              </a:rPr>
              <a:t>use k-nn for digit classification.</a:t>
            </a:r>
            <a:endParaRPr lang="en-US" sz="2800" b="1">
              <a:latin typeface="Calibri"/>
              <a:ea typeface="Calibri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800" b="1" dirty="0">
                <a:latin typeface="Calibri"/>
                <a:ea typeface="Calibri"/>
                <a:cs typeface="Quire Sans"/>
              </a:rPr>
              <a:t>Model evaluation: </a:t>
            </a:r>
            <a:r>
              <a:rPr lang="en-US" sz="2800" dirty="0">
                <a:latin typeface="Calibri"/>
                <a:ea typeface="Calibri"/>
                <a:cs typeface="Quire Sans"/>
              </a:rPr>
              <a:t>perform cross-validation and calculate accuracy.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en-US" sz="1800" cap="all" dirty="0">
              <a:latin typeface="Tw Cen MT"/>
              <a:cs typeface="Quire Sans"/>
            </a:endParaRPr>
          </a:p>
          <a:p>
            <a:pPr>
              <a:buNone/>
            </a:pPr>
            <a:endParaRPr lang="en-US" sz="1800" cap="all" dirty="0">
              <a:latin typeface="Tw Cen MT"/>
              <a:cs typeface="Quire Sans"/>
            </a:endParaRPr>
          </a:p>
          <a:p>
            <a:pPr>
              <a:buNone/>
            </a:pPr>
            <a:endParaRPr lang="en-US" sz="1800" cap="all" dirty="0">
              <a:latin typeface="Tw Cen MT"/>
              <a:cs typeface="Quire Sans"/>
            </a:endParaRPr>
          </a:p>
          <a:p>
            <a:pPr marL="0" indent="0">
              <a:buNone/>
            </a:pPr>
            <a:endParaRPr lang="en-US" sz="3200" b="1" cap="all" dirty="0">
              <a:latin typeface="Tw Cen MT"/>
              <a:cs typeface="Quire Sans"/>
            </a:endParaRPr>
          </a:p>
          <a:p>
            <a:pPr marL="0" indent="0">
              <a:buNone/>
            </a:pPr>
            <a:endParaRPr lang="en-US" sz="3200" b="1" cap="all" dirty="0">
              <a:latin typeface="Tw Cen MT"/>
              <a:cs typeface="Quire Sans"/>
            </a:endParaRPr>
          </a:p>
        </p:txBody>
      </p:sp>
    </p:spTree>
    <p:extLst>
      <p:ext uri="{BB962C8B-B14F-4D97-AF65-F5344CB8AC3E}">
        <p14:creationId xmlns:p14="http://schemas.microsoft.com/office/powerpoint/2010/main" val="15298560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2857639"/>
            <a:ext cx="5168900" cy="864730"/>
          </a:xfrm>
        </p:spPr>
        <p:txBody>
          <a:bodyPr/>
          <a:lstStyle/>
          <a:p>
            <a:r>
              <a:rPr lang="en-US" sz="5400" dirty="0">
                <a:latin typeface="Quire Sans"/>
                <a:cs typeface="Quire Sans"/>
              </a:rPr>
              <a:t>Sample from MNIST</a:t>
            </a:r>
          </a:p>
        </p:txBody>
      </p:sp>
      <p:pic>
        <p:nvPicPr>
          <p:cNvPr id="12" name="Picture Placeholder 4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/>
          <a:stretch/>
        </p:blipFill>
        <p:spPr>
          <a:xfrm>
            <a:off x="155222" y="533399"/>
            <a:ext cx="5791200" cy="579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BA530-E7DD-B661-0464-B982058E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618C-1663-4698-7AAA-931D556E5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2857639"/>
            <a:ext cx="5168900" cy="864730"/>
          </a:xfrm>
        </p:spPr>
        <p:txBody>
          <a:bodyPr/>
          <a:lstStyle/>
          <a:p>
            <a:r>
              <a:rPr lang="en-US" sz="5400" dirty="0">
                <a:latin typeface="Quire Sans"/>
                <a:cs typeface="Quire Sans"/>
              </a:rPr>
              <a:t>Sample input in MATLAB</a:t>
            </a:r>
          </a:p>
        </p:txBody>
      </p:sp>
      <p:pic>
        <p:nvPicPr>
          <p:cNvPr id="8" name="Picture Placeholder 7" descr="A group of numbers in black squares&#10;&#10;AI-generated content may be incorrect.">
            <a:extLst>
              <a:ext uri="{FF2B5EF4-FFF2-40B4-BE49-F238E27FC236}">
                <a16:creationId xmlns:a16="http://schemas.microsoft.com/office/drawing/2014/main" id="{0C505E4E-A712-6738-2D7C-328C54813ED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8182" r="10661" b="88"/>
          <a:stretch>
            <a:fillRect/>
          </a:stretch>
        </p:blipFill>
        <p:spPr>
          <a:xfrm>
            <a:off x="96877" y="769664"/>
            <a:ext cx="5999651" cy="53220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787192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2B896-E2D7-3375-6F4A-CD53AFE9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6A6D-27C7-A652-3817-F197B122A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3250" y="2783298"/>
            <a:ext cx="5875143" cy="976242"/>
          </a:xfrm>
        </p:spPr>
        <p:txBody>
          <a:bodyPr/>
          <a:lstStyle/>
          <a:p>
            <a:r>
              <a:rPr lang="en-US" dirty="0">
                <a:latin typeface="Quire Sans"/>
                <a:cs typeface="Quire Sans"/>
              </a:rPr>
              <a:t>Source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5690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0BD7D-0F51-EA5A-5101-4ED611BE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7E934C0-96A3-1E8C-FF37-C42B9307BB2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198" r="297" b="143"/>
          <a:stretch>
            <a:fillRect/>
          </a:stretch>
        </p:blipFill>
        <p:spPr>
          <a:xfrm>
            <a:off x="1421782" y="183282"/>
            <a:ext cx="9340903" cy="649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3461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F13B1-098D-3D7E-73DC-84A18415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2084208-A20D-39BA-AB5B-9B778545BAA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r="7067" b="147"/>
          <a:stretch>
            <a:fillRect/>
          </a:stretch>
        </p:blipFill>
        <p:spPr>
          <a:xfrm>
            <a:off x="2276708" y="138892"/>
            <a:ext cx="7637348" cy="658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699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9003-EFD9-E5D1-5895-19BD0E31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5CB52DFA-C773-50DB-DD52-88D419C14E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-21881" t="-3957" r="-267" b="1079"/>
          <a:stretch>
            <a:fillRect/>
          </a:stretch>
        </p:blipFill>
        <p:spPr>
          <a:xfrm>
            <a:off x="-2410302" y="1121982"/>
            <a:ext cx="14452737" cy="461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4250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D801-12BC-FD92-3031-92BF35C3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8809748D-2A66-3A7D-D198-BCCA797D0D4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5446" r="14948" b="-146"/>
          <a:stretch>
            <a:fillRect/>
          </a:stretch>
        </p:blipFill>
        <p:spPr>
          <a:xfrm>
            <a:off x="352323" y="607443"/>
            <a:ext cx="5637121" cy="56349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B6C7B5-A3DC-CDF2-C20C-C6D982E49449}"/>
              </a:ext>
            </a:extLst>
          </p:cNvPr>
          <p:cNvSpPr txBox="1"/>
          <p:nvPr/>
        </p:nvSpPr>
        <p:spPr>
          <a:xfrm>
            <a:off x="6221136" y="3073525"/>
            <a:ext cx="312774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chemeClr val="bg1"/>
                </a:solidFill>
                <a:latin typeface="Berlin Sans FB Demi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0590708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DB27-7301-8176-E79D-4020C36D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0883-60C7-102E-9949-DA0CC2854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417" y="1508363"/>
            <a:ext cx="4718649" cy="467263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Algorithm Steps:</a:t>
            </a:r>
            <a:endParaRPr lang="en-US" sz="32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707AFB-0C71-F042-316C-CF39072269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6044" y="2511545"/>
            <a:ext cx="11301178" cy="4927374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2800" dirty="0">
                <a:latin typeface="Quire Sans"/>
                <a:ea typeface="Calibri"/>
                <a:cs typeface="Quire Sans"/>
              </a:rPr>
              <a:t>Load and visualize digit dataset.</a:t>
            </a:r>
          </a:p>
          <a:p>
            <a:r>
              <a:rPr lang="en-US" sz="2800" dirty="0">
                <a:latin typeface="Quire Sans"/>
                <a:ea typeface="Calibri"/>
                <a:cs typeface="Calibri"/>
              </a:rPr>
              <a:t>For each image, apply SVD decomposition.</a:t>
            </a:r>
            <a:endParaRPr lang="en-US" dirty="0">
              <a:latin typeface="Quire Sans"/>
              <a:cs typeface="Quire Sans"/>
            </a:endParaRPr>
          </a:p>
          <a:p>
            <a:r>
              <a:rPr lang="en-US" sz="2800" dirty="0">
                <a:latin typeface="Quire Sans"/>
                <a:ea typeface="Calibri"/>
                <a:cs typeface="Calibri"/>
              </a:rPr>
              <a:t>Choose the top k singular values as the signature.</a:t>
            </a:r>
            <a:endParaRPr lang="en-US" dirty="0">
              <a:latin typeface="Quire Sans"/>
              <a:cs typeface="Quire Sans"/>
            </a:endParaRPr>
          </a:p>
          <a:p>
            <a:r>
              <a:rPr lang="en-US" sz="2800" dirty="0">
                <a:latin typeface="Quire Sans"/>
                <a:ea typeface="Calibri"/>
                <a:cs typeface="Calibri"/>
              </a:rPr>
              <a:t>For a new test image, compute SVD and compare its signature to all training digits using Euclidean distance.</a:t>
            </a:r>
            <a:endParaRPr lang="en-US" dirty="0">
              <a:latin typeface="Quire Sans"/>
              <a:cs typeface="Quire Sans"/>
            </a:endParaRPr>
          </a:p>
          <a:p>
            <a:r>
              <a:rPr lang="en-US" sz="2800" dirty="0">
                <a:latin typeface="Quire Sans"/>
                <a:ea typeface="Calibri"/>
                <a:cs typeface="Calibri"/>
              </a:rPr>
              <a:t>Predict the label with minimum distance.</a:t>
            </a:r>
            <a:endParaRPr lang="en-US" dirty="0">
              <a:latin typeface="Quire Sans"/>
            </a:endParaRPr>
          </a:p>
          <a:p>
            <a:endParaRPr lang="en-US" sz="2800" dirty="0">
              <a:latin typeface="Calibri"/>
              <a:ea typeface="Calibri"/>
              <a:cs typeface="Quire Sans"/>
            </a:endParaRPr>
          </a:p>
        </p:txBody>
      </p:sp>
    </p:spTree>
    <p:extLst>
      <p:ext uri="{BB962C8B-B14F-4D97-AF65-F5344CB8AC3E}">
        <p14:creationId xmlns:p14="http://schemas.microsoft.com/office/powerpoint/2010/main" val="163139945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30AB-234E-80D7-CC6B-4E9B6251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CEA-222C-F64B-1A32-DF43D2DC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417" y="1378967"/>
            <a:ext cx="3194649" cy="992036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Observations:</a:t>
            </a:r>
            <a:endParaRPr lang="en-US" sz="3200" dirty="0"/>
          </a:p>
          <a:p>
            <a:endParaRPr lang="en-US" sz="3200" cap="all" dirty="0">
              <a:latin typeface="Tw Cen M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6EC047-9054-2326-3A4B-C982548E8A5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75685" y="2547488"/>
            <a:ext cx="11358687" cy="4927374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3200" dirty="0">
                <a:latin typeface="Quire Sans"/>
                <a:ea typeface="Calibri"/>
                <a:cs typeface="Quire Sans"/>
              </a:rPr>
              <a:t>Retaining top 50 singular values achieves accuracy around 93–97% using nearest neighbor.</a:t>
            </a:r>
          </a:p>
          <a:p>
            <a:r>
              <a:rPr lang="en-US" sz="3200" dirty="0">
                <a:latin typeface="Quire Sans"/>
                <a:ea typeface="Calibri"/>
                <a:cs typeface="Quire Sans"/>
              </a:rPr>
              <a:t>Using top 50 singular values improves accuracy but with slightly reduced efficiency.</a:t>
            </a:r>
            <a:endParaRPr lang="en-US" sz="3200">
              <a:latin typeface="Quire Sans"/>
              <a:ea typeface="Calibri"/>
              <a:cs typeface="Calibri"/>
            </a:endParaRPr>
          </a:p>
          <a:p>
            <a:r>
              <a:rPr lang="en-US" sz="3200" dirty="0">
                <a:latin typeface="Quire Sans"/>
                <a:ea typeface="Calibri"/>
                <a:cs typeface="Quire Sans"/>
              </a:rPr>
              <a:t>Visualization shows reconstructed digits are visually clear with only a few singular values retained. </a:t>
            </a:r>
            <a:endParaRPr lang="en-US" sz="3200">
              <a:latin typeface="Quire Sans"/>
              <a:ea typeface="Calibri"/>
              <a:cs typeface="Calibri"/>
            </a:endParaRPr>
          </a:p>
          <a:p>
            <a:endParaRPr lang="en-US" sz="2800" dirty="0">
              <a:latin typeface="Quire Sans"/>
              <a:ea typeface="Calibri"/>
              <a:cs typeface="Quire Sans"/>
            </a:endParaRPr>
          </a:p>
        </p:txBody>
      </p:sp>
    </p:spTree>
    <p:extLst>
      <p:ext uri="{BB962C8B-B14F-4D97-AF65-F5344CB8AC3E}">
        <p14:creationId xmlns:p14="http://schemas.microsoft.com/office/powerpoint/2010/main" val="130804818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DF32-93C4-4E8C-EDD5-45728F4A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CAAD-F0E1-F3A9-0E6A-12416E02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417" y="1378967"/>
            <a:ext cx="2748951" cy="992036"/>
          </a:xfrm>
        </p:spPr>
        <p:txBody>
          <a:bodyPr/>
          <a:lstStyle/>
          <a:p>
            <a:r>
              <a:rPr lang="en-US" sz="3200" cap="all" dirty="0">
                <a:latin typeface="Tw Cen MT"/>
              </a:rPr>
              <a:t>Conclusion:</a:t>
            </a:r>
            <a:endParaRPr lang="en-US" sz="2800"/>
          </a:p>
          <a:p>
            <a:endParaRPr lang="en-US" sz="2800" cap="all" dirty="0">
              <a:latin typeface="Tw Cen M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B4B5BB-F97A-006D-49A9-A36A332921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8176" y="2770337"/>
            <a:ext cx="11358687" cy="4927374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2800" dirty="0">
                <a:latin typeface="Quire Sans"/>
                <a:ea typeface="Calibri"/>
                <a:cs typeface="Quire Sans"/>
              </a:rPr>
              <a:t>SVD-based recognition is a promising approach balancing accuracy and computational efficiency.</a:t>
            </a:r>
          </a:p>
          <a:p>
            <a:r>
              <a:rPr lang="en-US" sz="2800" dirty="0">
                <a:latin typeface="Quire Sans"/>
                <a:ea typeface="Calibri"/>
                <a:cs typeface="Quire Sans"/>
              </a:rPr>
              <a:t>Current progress shows the system is functional with good preliminary results.</a:t>
            </a:r>
            <a:endParaRPr lang="en-US" sz="2800">
              <a:latin typeface="Quire Sans"/>
              <a:cs typeface="Quire Sans"/>
            </a:endParaRPr>
          </a:p>
          <a:p>
            <a:endParaRPr lang="en-US" sz="3600" dirty="0">
              <a:latin typeface="Quire Sans"/>
              <a:ea typeface="Calibri"/>
              <a:cs typeface="Quire Sans"/>
            </a:endParaRPr>
          </a:p>
        </p:txBody>
      </p:sp>
    </p:spTree>
    <p:extLst>
      <p:ext uri="{BB962C8B-B14F-4D97-AF65-F5344CB8AC3E}">
        <p14:creationId xmlns:p14="http://schemas.microsoft.com/office/powerpoint/2010/main" val="415986090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7493-C0E8-1E9C-29DC-DA62CFDF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47DE-C5E7-2972-0AC3-E421EF18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417" y="1378967"/>
            <a:ext cx="2748951" cy="992036"/>
          </a:xfrm>
        </p:spPr>
        <p:txBody>
          <a:bodyPr/>
          <a:lstStyle/>
          <a:p>
            <a:r>
              <a:rPr lang="en-US" sz="3600" cap="all" dirty="0">
                <a:latin typeface="Tw Cen MT"/>
              </a:rPr>
              <a:t>References</a:t>
            </a:r>
            <a:r>
              <a:rPr lang="en-US" cap="all" dirty="0">
                <a:latin typeface="Tw Cen MT"/>
              </a:rPr>
              <a:t>:</a:t>
            </a:r>
            <a:endParaRPr lang="en-US" sz="2800"/>
          </a:p>
          <a:p>
            <a:endParaRPr lang="en-US" sz="2800" cap="all" dirty="0">
              <a:latin typeface="Tw Cen M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9AB3B9-57AD-2D5B-25F4-AAC882E1B6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8176" y="2770337"/>
            <a:ext cx="11358687" cy="4927374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2800" dirty="0" err="1">
                <a:latin typeface="Quire Sans"/>
                <a:ea typeface="Calibri"/>
                <a:cs typeface="Quire Sans"/>
              </a:rPr>
              <a:t>Eldén</a:t>
            </a:r>
            <a:r>
              <a:rPr lang="en-US" sz="2800" dirty="0">
                <a:latin typeface="Quire Sans"/>
                <a:ea typeface="Calibri"/>
                <a:cs typeface="Quire Sans"/>
              </a:rPr>
              <a:t>, L. (2007). Classification of handwritten digits - UC Davis.</a:t>
            </a:r>
          </a:p>
          <a:p>
            <a:r>
              <a:rPr lang="en-US" sz="2800" dirty="0"/>
              <a:t>Introduction To MATLAB For </a:t>
            </a:r>
            <a:r>
              <a:rPr lang="en-US" sz="2800"/>
              <a:t>Engineering Students - </a:t>
            </a:r>
            <a:r>
              <a:rPr lang="en-US" sz="2800" dirty="0"/>
              <a:t>David </a:t>
            </a:r>
            <a:r>
              <a:rPr lang="en-US" sz="2800" dirty="0" err="1"/>
              <a:t>Houcque</a:t>
            </a:r>
            <a:endParaRPr lang="en-US" sz="2800" dirty="0">
              <a:latin typeface="Quire Sans"/>
              <a:ea typeface="Calibri"/>
              <a:cs typeface="Quire Sans"/>
            </a:endParaRPr>
          </a:p>
          <a:p>
            <a:r>
              <a:rPr lang="en-US" sz="2800" dirty="0" err="1">
                <a:latin typeface="Quire Sans"/>
                <a:ea typeface="Calibri"/>
                <a:cs typeface="Quire Sans"/>
              </a:rPr>
              <a:t>Sciencedirect.Com</a:t>
            </a:r>
            <a:r>
              <a:rPr lang="en-US" sz="2800" dirty="0">
                <a:latin typeface="Quire Sans"/>
                <a:ea typeface="Calibri"/>
                <a:cs typeface="Quire Sans"/>
              </a:rPr>
              <a:t> - handwritten digit classification using SVD.</a:t>
            </a:r>
            <a:endParaRPr lang="en-US" dirty="0"/>
          </a:p>
          <a:p>
            <a:endParaRPr lang="en-US" sz="3600" dirty="0">
              <a:latin typeface="Quire Sans"/>
              <a:ea typeface="Calibri"/>
              <a:cs typeface="Quire Sans"/>
            </a:endParaRPr>
          </a:p>
        </p:txBody>
      </p:sp>
    </p:spTree>
    <p:extLst>
      <p:ext uri="{BB962C8B-B14F-4D97-AF65-F5344CB8AC3E}">
        <p14:creationId xmlns:p14="http://schemas.microsoft.com/office/powerpoint/2010/main" val="182704670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FBF7-20FB-26B8-B4ED-590B42A5A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715" y="3190553"/>
            <a:ext cx="5435684" cy="867848"/>
          </a:xfrm>
        </p:spPr>
        <p:txBody>
          <a:bodyPr/>
          <a:lstStyle/>
          <a:p>
            <a:r>
              <a:rPr lang="en-US" sz="6000" dirty="0">
                <a:latin typeface="Segoe Scrip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3368451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681</Words>
  <Application>Microsoft Office PowerPoint</Application>
  <PresentationFormat>Widescreen</PresentationFormat>
  <Paragraphs>91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Berlin Sans FB Demi</vt:lpstr>
      <vt:lpstr>Calibri</vt:lpstr>
      <vt:lpstr>Franklin Gothic Book</vt:lpstr>
      <vt:lpstr>Franklin Gothic Demi</vt:lpstr>
      <vt:lpstr>Quire Sans</vt:lpstr>
      <vt:lpstr>Segoe Script</vt:lpstr>
      <vt:lpstr>Tw Cen MT</vt:lpstr>
      <vt:lpstr>Wingdings,Sans-Serif</vt:lpstr>
      <vt:lpstr>Custom</vt:lpstr>
      <vt:lpstr>Handwritten digit recognition using SVD</vt:lpstr>
      <vt:lpstr>Introduction:</vt:lpstr>
      <vt:lpstr>Problem statement:</vt:lpstr>
      <vt:lpstr>objective:  </vt:lpstr>
      <vt:lpstr>LITERATURE REVIEW:  </vt:lpstr>
      <vt:lpstr>Methodology:  </vt:lpstr>
      <vt:lpstr>Methodology:  </vt:lpstr>
      <vt:lpstr>Methodology OVERVIEW:  </vt:lpstr>
      <vt:lpstr>Sample from MNIST</vt:lpstr>
      <vt:lpstr>Sample input in MATLAB</vt:lpstr>
      <vt:lpstr>Source Code</vt:lpstr>
      <vt:lpstr>PowerPoint Presentation</vt:lpstr>
      <vt:lpstr>PowerPoint Presentation</vt:lpstr>
      <vt:lpstr>PowerPoint Presentation</vt:lpstr>
      <vt:lpstr>PowerPoint Presentation</vt:lpstr>
      <vt:lpstr>Algorithm Steps:</vt:lpstr>
      <vt:lpstr>Observations: </vt:lpstr>
      <vt:lpstr>Conclusion: </vt:lpstr>
      <vt:lpstr>References: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jaswanth sabbina</cp:lastModifiedBy>
  <cp:revision>456</cp:revision>
  <dcterms:created xsi:type="dcterms:W3CDTF">2025-12-08T16:29:01Z</dcterms:created>
  <dcterms:modified xsi:type="dcterms:W3CDTF">2025-12-09T10:30:39Z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